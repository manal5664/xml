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1" r:id="rId10"/>
    <p:sldId id="263" r:id="rId11"/>
    <p:sldId id="266" r:id="rId12"/>
    <p:sldId id="268" r:id="rId13"/>
    <p:sldId id="273" r:id="rId14"/>
    <p:sldId id="264" r:id="rId15"/>
    <p:sldId id="269" r:id="rId16"/>
    <p:sldId id="274" r:id="rId17"/>
    <p:sldId id="275" r:id="rId18"/>
    <p:sldId id="276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3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D927F-A30D-444A-A735-E35EAE1E81E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3FE46-2962-4891-84D2-0E0E533B6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02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3FE46-2962-4891-84D2-0E0E533B69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68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5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50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4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2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1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1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8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5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51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5520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0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74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39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5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464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XML (Extensible Markup Language)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Structure &amp;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XML stands for Extensible Markup Language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Extensible means :create our own tag</a:t>
            </a:r>
            <a:endParaRPr dirty="0"/>
          </a:p>
          <a:p>
            <a:pPr marL="0" indent="0">
              <a:buNone/>
            </a:pPr>
            <a:r>
              <a:rPr dirty="0"/>
              <a:t>- It is used to store and transport data</a:t>
            </a:r>
          </a:p>
          <a:p>
            <a:pPr marL="0" indent="0">
              <a:buNone/>
            </a:pPr>
            <a:r>
              <a:rPr dirty="0"/>
              <a:t>- It is both human-readable and machine-readable</a:t>
            </a:r>
          </a:p>
          <a:p>
            <a:pPr marL="0" indent="0">
              <a:buNone/>
            </a:pPr>
            <a:r>
              <a:rPr dirty="0"/>
              <a:t>- Focus is on data structure, not display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Document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Prolog (optional)</a:t>
            </a:r>
          </a:p>
          <a:p>
            <a:r>
              <a:rPr dirty="0"/>
              <a:t>- Root element (mandatory)</a:t>
            </a:r>
          </a:p>
          <a:p>
            <a:r>
              <a:rPr dirty="0"/>
              <a:t>- Child elements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0DDE4-A4FD-083E-96C1-8261CCB43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34" y="3900714"/>
            <a:ext cx="4547413" cy="2673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Syntax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Must have single root element</a:t>
            </a:r>
          </a:p>
          <a:p>
            <a:pPr marL="0" indent="0">
              <a:buNone/>
            </a:pPr>
            <a:r>
              <a:rPr dirty="0"/>
              <a:t>- All tags must be closed</a:t>
            </a:r>
          </a:p>
          <a:p>
            <a:pPr marL="0" indent="0">
              <a:buNone/>
            </a:pPr>
            <a:r>
              <a:rPr dirty="0"/>
              <a:t>- Case-sensitive tags</a:t>
            </a:r>
          </a:p>
          <a:p>
            <a:pPr marL="0" indent="0">
              <a:buNone/>
            </a:pPr>
            <a:r>
              <a:rPr dirty="0"/>
              <a:t>- Proper nesting required</a:t>
            </a:r>
          </a:p>
          <a:p>
            <a:pPr marL="0" indent="0">
              <a:buNone/>
            </a:pPr>
            <a:r>
              <a:rPr dirty="0"/>
              <a:t>- Attribute values must be quoted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Tags in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Tags define the start and end of elements</a:t>
            </a:r>
          </a:p>
          <a:p>
            <a:pPr marL="0" indent="0">
              <a:buNone/>
            </a:pPr>
            <a:r>
              <a:rPr lang="en-US" dirty="0"/>
              <a:t>Two 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Opening tag: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Closing tag: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26E94-4971-2067-6233-7E231CEB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03" y="4240858"/>
            <a:ext cx="4522435" cy="1158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Elements in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element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tag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 tag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Elements can also be nested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6D4E4-6B0D-E066-61FA-3499492CD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027" y="3099445"/>
            <a:ext cx="3246115" cy="659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Attributes in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Provide extra info about elements</a:t>
            </a:r>
            <a:endParaRPr lang="en-US" dirty="0"/>
          </a:p>
          <a:p>
            <a:r>
              <a:rPr lang="en-US" dirty="0"/>
              <a:t>Written inside start tag</a:t>
            </a: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A46E8-3CB3-EF03-28B6-C89F9C559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645" y="4122672"/>
            <a:ext cx="3381473" cy="1394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393A-0DC0-6F2B-1567-CD4F4866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A574-E2B9-255D-53DF-9CE5AB4A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09" y="2151678"/>
            <a:ext cx="6887389" cy="3599316"/>
          </a:xfrm>
        </p:spPr>
        <p:txBody>
          <a:bodyPr/>
          <a:lstStyle/>
          <a:p>
            <a:r>
              <a:rPr lang="en-US" dirty="0"/>
              <a:t>An ID in XML is used to uniquely identify a specific data record.</a:t>
            </a:r>
          </a:p>
          <a:p>
            <a:r>
              <a:rPr lang="en-US" b="1" dirty="0"/>
              <a:t>Why Do We Use ID?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identify data uniquely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avoid confusion between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easily find specific data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62A74-AE45-F7AD-AC9D-5F4459B3A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382" y="2708150"/>
            <a:ext cx="3252695" cy="304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7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CB55-8523-8251-AC21-0CC2E39D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7204" y="900171"/>
            <a:ext cx="7886700" cy="994172"/>
          </a:xfrm>
        </p:spPr>
        <p:txBody>
          <a:bodyPr/>
          <a:lstStyle/>
          <a:p>
            <a:pPr algn="ctr"/>
            <a:r>
              <a:rPr lang="en-US" dirty="0"/>
              <a:t>Difference between XML AND 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FE07F7-1F2B-AD3A-AA64-E49539D16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415753"/>
            <a:ext cx="8035001" cy="3739928"/>
          </a:xfrm>
        </p:spPr>
      </p:pic>
    </p:spTree>
    <p:extLst>
      <p:ext uri="{BB962C8B-B14F-4D97-AF65-F5344CB8AC3E}">
        <p14:creationId xmlns:p14="http://schemas.microsoft.com/office/powerpoint/2010/main" val="88217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Well-Formed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Follows all syntax rules</a:t>
            </a:r>
          </a:p>
          <a:p>
            <a:pPr marL="0" indent="0">
              <a:buNone/>
            </a:pPr>
            <a:r>
              <a:rPr dirty="0"/>
              <a:t>- Proper nesting</a:t>
            </a:r>
          </a:p>
          <a:p>
            <a:pPr marL="0" indent="0">
              <a:buNone/>
            </a:pPr>
            <a:r>
              <a:rPr dirty="0"/>
              <a:t>- Single root element</a:t>
            </a:r>
          </a:p>
          <a:p>
            <a:pPr marL="0" indent="0">
              <a:buNone/>
            </a:pPr>
            <a:r>
              <a:rPr dirty="0"/>
              <a:t>- All tags closed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FD73-D9B4-23BB-C023-A608672F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F6251-4DE2-D7EE-9DD7-3FF7ABB97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1D202-8B66-6508-89D1-FDE53ABEF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699"/>
          <a:stretch/>
        </p:blipFill>
        <p:spPr>
          <a:xfrm>
            <a:off x="44380" y="140888"/>
            <a:ext cx="9055239" cy="657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21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EEA7-8916-8AE8-99FC-30D67EFE5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namespace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E3CBE-5C6F-338B-371F-CB96EA35C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43684"/>
            <a:ext cx="7886700" cy="3263504"/>
          </a:xfrm>
        </p:spPr>
        <p:txBody>
          <a:bodyPr/>
          <a:lstStyle/>
          <a:p>
            <a:r>
              <a:rPr lang="en-US" dirty="0"/>
              <a:t>XML namespace is used to give unique identity to elements with the same name, so confusion can be avoided.</a:t>
            </a:r>
          </a:p>
          <a:p>
            <a:r>
              <a:rPr lang="en-US" dirty="0"/>
              <a:t>Namespace is used when system becomes </a:t>
            </a:r>
            <a:r>
              <a:rPr lang="en-US" b="1" dirty="0"/>
              <a:t>BIG and complex</a:t>
            </a:r>
            <a:r>
              <a:rPr lang="en-US" dirty="0"/>
              <a:t>.</a:t>
            </a:r>
          </a:p>
          <a:p>
            <a:r>
              <a:rPr lang="en-US" dirty="0"/>
              <a:t>We use namespace to resolve the naming conflict issue.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80359E8-A13D-5F90-87F9-36032FFBB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40" y="4838710"/>
            <a:ext cx="6748927" cy="175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BDAD-5FB3-1148-B66D-E2CD9B8D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67" y="753228"/>
            <a:ext cx="7270319" cy="1080938"/>
          </a:xfrm>
        </p:spPr>
        <p:txBody>
          <a:bodyPr/>
          <a:lstStyle/>
          <a:p>
            <a:r>
              <a:rPr lang="en-US" dirty="0"/>
              <a:t>Difference B/W ID and Namespace in XML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A2C7ED-41DF-E734-47A2-81EB99CCD2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645203"/>
              </p:ext>
            </p:extLst>
          </p:nvPr>
        </p:nvGraphicFramePr>
        <p:xfrm>
          <a:off x="533400" y="2422469"/>
          <a:ext cx="7522581" cy="33033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07527">
                  <a:extLst>
                    <a:ext uri="{9D8B030D-6E8A-4147-A177-3AD203B41FA5}">
                      <a16:colId xmlns:a16="http://schemas.microsoft.com/office/drawing/2014/main" val="3693888422"/>
                    </a:ext>
                  </a:extLst>
                </a:gridCol>
                <a:gridCol w="2507527">
                  <a:extLst>
                    <a:ext uri="{9D8B030D-6E8A-4147-A177-3AD203B41FA5}">
                      <a16:colId xmlns:a16="http://schemas.microsoft.com/office/drawing/2014/main" val="3256607682"/>
                    </a:ext>
                  </a:extLst>
                </a:gridCol>
                <a:gridCol w="2507527">
                  <a:extLst>
                    <a:ext uri="{9D8B030D-6E8A-4147-A177-3AD203B41FA5}">
                      <a16:colId xmlns:a16="http://schemas.microsoft.com/office/drawing/2014/main" val="2662239294"/>
                    </a:ext>
                  </a:extLst>
                </a:gridCol>
              </a:tblGrid>
              <a:tr h="528544">
                <a:tc>
                  <a:txBody>
                    <a:bodyPr/>
                    <a:lstStyle/>
                    <a:p>
                      <a:r>
                        <a:rPr lang="en-US"/>
                        <a:t>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Namespace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504495"/>
                  </a:ext>
                </a:extLst>
              </a:tr>
              <a:tr h="924951">
                <a:tc>
                  <a:txBody>
                    <a:bodyPr/>
                    <a:lstStyle/>
                    <a:p>
                      <a:r>
                        <a:rPr lang="en-US"/>
                        <a:t>What does it make unique?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/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Tag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097400"/>
                  </a:ext>
                </a:extLst>
              </a:tr>
              <a:tr h="1321359">
                <a:tc>
                  <a:txBody>
                    <a:bodyPr/>
                    <a:lstStyle/>
                    <a:p>
                      <a:r>
                        <a:rPr lang="en-US"/>
                        <a:t>What problem does it solve?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Identifies which exact record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Identifies which system/category the tag belongs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636983"/>
                  </a:ext>
                </a:extLst>
              </a:tr>
              <a:tr h="528544"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 id="101"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school:table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53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802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Malformed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</a:t>
            </a:r>
            <a:r>
              <a:rPr lang="en-US" dirty="0"/>
              <a:t> Incorrect XML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dirty="0"/>
              <a:t>Breaks XML rules</a:t>
            </a:r>
          </a:p>
          <a:p>
            <a:pPr marL="0" indent="0">
              <a:buNone/>
            </a:pPr>
            <a:r>
              <a:rPr dirty="0"/>
              <a:t>- Missing tags</a:t>
            </a:r>
          </a:p>
          <a:p>
            <a:pPr marL="0" indent="0">
              <a:buNone/>
            </a:pPr>
            <a:r>
              <a:rPr dirty="0"/>
              <a:t>- Improper nesting</a:t>
            </a:r>
          </a:p>
          <a:p>
            <a:pPr marL="0" indent="0">
              <a:buNone/>
            </a:pPr>
            <a:r>
              <a:rPr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9E64F-EF6F-4237-C33C-09F979840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931" y="4239606"/>
            <a:ext cx="2626326" cy="10752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1815-F928-B984-A595-BE9B4477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82" y="724274"/>
            <a:ext cx="7886700" cy="994172"/>
          </a:xfrm>
        </p:spPr>
        <p:txBody>
          <a:bodyPr/>
          <a:lstStyle/>
          <a:p>
            <a:r>
              <a:rPr lang="en-US" dirty="0"/>
              <a:t>Practical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B7001-4601-7BC9-D4D9-39AEB1AB1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898" y="724274"/>
            <a:ext cx="6598073" cy="588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03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ABA8-83CD-0FB4-5EB5-5A7370C5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5EEC-3381-2AB4-70D3-F598E5975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164466"/>
            <a:ext cx="8298084" cy="4467827"/>
          </a:xfrm>
        </p:spPr>
        <p:txBody>
          <a:bodyPr>
            <a:normAutofit/>
          </a:bodyPr>
          <a:lstStyle/>
          <a:p>
            <a:r>
              <a:rPr lang="en-US" dirty="0"/>
              <a:t>Write a well-formed XML document (employee list) </a:t>
            </a:r>
          </a:p>
          <a:p>
            <a:r>
              <a:rPr lang="en-US" dirty="0"/>
              <a:t>A well-formed XML document must follow these rules: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root element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proper closing tags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correct nesting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case-sensitive tags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Use: namespace for avoiding conflicts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8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37EE-7AD7-732C-B09B-B8B780BE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AAC6-E023-D941-0ED3-6AA644FD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Validate XML using online XML Validator(Validation means checking whether: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XML structure is correct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tags are properly written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syntax errors exist)  can use </a:t>
            </a:r>
            <a:r>
              <a:rPr lang="en-US" dirty="0" err="1"/>
              <a:t>codebeautify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View XML in browser and editor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98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8BDD-3BAD-1DE9-2AEF-B1D87282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7861-252A-FF53-10A6-7A5C0896E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A95D0-9435-A207-0D3D-D1A7E93C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53" y="146367"/>
            <a:ext cx="7758949" cy="65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44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XML stores and transports data</a:t>
            </a:r>
          </a:p>
          <a:p>
            <a:pPr marL="0" indent="0">
              <a:buNone/>
            </a:pPr>
            <a:r>
              <a:rPr dirty="0"/>
              <a:t>- Uses tags, elements, attributes</a:t>
            </a:r>
          </a:p>
          <a:p>
            <a:pPr marL="0" indent="0">
              <a:buNone/>
            </a:pPr>
            <a:r>
              <a:rPr dirty="0"/>
              <a:t>- Strict syntax rules</a:t>
            </a:r>
          </a:p>
          <a:p>
            <a:pPr marL="0" indent="0">
              <a:buNone/>
            </a:pPr>
            <a:r>
              <a:rPr dirty="0"/>
              <a:t>- Well-formed XML is valid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82</TotalTime>
  <Words>420</Words>
  <Application>Microsoft Office PowerPoint</Application>
  <PresentationFormat>On-screen Show (4:3)</PresentationFormat>
  <Paragraphs>90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Trebuchet MS</vt:lpstr>
      <vt:lpstr>Berlin</vt:lpstr>
      <vt:lpstr>XML (Extensible Markup Language)</vt:lpstr>
      <vt:lpstr>What is XML?</vt:lpstr>
      <vt:lpstr>XML Document Structure</vt:lpstr>
      <vt:lpstr>XML Syntax Rules</vt:lpstr>
      <vt:lpstr>Tags in XML</vt:lpstr>
      <vt:lpstr>Elements in XML</vt:lpstr>
      <vt:lpstr>Attributes in XML</vt:lpstr>
      <vt:lpstr>XML ID</vt:lpstr>
      <vt:lpstr>Difference between XML AND HTML</vt:lpstr>
      <vt:lpstr>Well-Formed XML</vt:lpstr>
      <vt:lpstr>PowerPoint Presentation</vt:lpstr>
      <vt:lpstr>Use of namespace</vt:lpstr>
      <vt:lpstr>Difference B/W ID and Namespace in XML</vt:lpstr>
      <vt:lpstr>Malformed XML</vt:lpstr>
      <vt:lpstr>Practical</vt:lpstr>
      <vt:lpstr>Task</vt:lpstr>
      <vt:lpstr>Task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Manal Asghar</dc:creator>
  <cp:keywords/>
  <dc:description>generated using python-pptx</dc:description>
  <cp:lastModifiedBy>Manal Atif</cp:lastModifiedBy>
  <cp:revision>13</cp:revision>
  <dcterms:created xsi:type="dcterms:W3CDTF">2013-01-27T09:14:16Z</dcterms:created>
  <dcterms:modified xsi:type="dcterms:W3CDTF">2026-05-12T11:22:39Z</dcterms:modified>
  <cp:category/>
</cp:coreProperties>
</file>